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3"/>
    <p:sldId id="341" r:id="rId4"/>
    <p:sldId id="342" r:id="rId5"/>
    <p:sldId id="343" r:id="rId6"/>
    <p:sldId id="346" r:id="rId7"/>
    <p:sldId id="345" r:id="rId8"/>
    <p:sldId id="344" r:id="rId9"/>
    <p:sldId id="348" r:id="rId10"/>
    <p:sldId id="350" r:id="rId11"/>
    <p:sldId id="349" r:id="rId12"/>
    <p:sldId id="351" r:id="rId13"/>
    <p:sldId id="355" r:id="rId14"/>
    <p:sldId id="352" r:id="rId15"/>
    <p:sldId id="353" r:id="rId16"/>
    <p:sldId id="354" r:id="rId17"/>
    <p:sldId id="356" r:id="rId18"/>
    <p:sldId id="357" r:id="rId19"/>
    <p:sldId id="358" r:id="rId20"/>
    <p:sldId id="359" r:id="rId21"/>
    <p:sldId id="360" r:id="rId22"/>
    <p:sldId id="3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>
      <p:cViewPr varScale="1">
        <p:scale>
          <a:sx n="81" d="100"/>
          <a:sy n="81" d="100"/>
        </p:scale>
        <p:origin x="461" y="62"/>
      </p:cViewPr>
      <p:guideLst>
        <p:guide orient="horz" pos="2160"/>
        <p:guide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18574-DBF7-465D-B037-FE631F471BB2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C3D8E-6D01-472B-9760-E65C392860FE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0B395-2DD1-4E0C-AD7F-C33E717CE14B}" type="datetimeFigureOut">
              <a:rPr lang="pt-BR" smtClean="0"/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  <a:endParaRPr lang="pt-BR" smtClean="0"/>
          </a:p>
          <a:p>
            <a:pPr lvl="1"/>
            <a:r>
              <a:rPr lang="pt-BR" smtClean="0"/>
              <a:t>Segundo nível</a:t>
            </a:r>
            <a:endParaRPr lang="pt-BR" smtClean="0"/>
          </a:p>
          <a:p>
            <a:pPr lvl="2"/>
            <a:r>
              <a:rPr lang="pt-BR" smtClean="0"/>
              <a:t>Terceiro nível</a:t>
            </a:r>
            <a:endParaRPr lang="pt-BR" smtClean="0"/>
          </a:p>
          <a:p>
            <a:pPr lvl="3"/>
            <a:r>
              <a:rPr lang="pt-BR" smtClean="0"/>
              <a:t>Quarto nível</a:t>
            </a:r>
            <a:endParaRPr lang="pt-BR" smtClean="0"/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66332-D461-43D9-A1C1-8FF0295CCEC5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PT" dirty="0"/>
              <a:t>Golang</a:t>
            </a:r>
            <a:endParaRPr lang="en-US" alt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Ely Prado</a:t>
            </a:r>
            <a:endParaRPr lang="pt-BR" dirty="0"/>
          </a:p>
          <a:p>
            <a:r>
              <a:rPr lang="pt-BR"/>
              <a:t>Libertas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Introdução à Linguagem Go (Golang)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2800"/>
              <a:t>Go, também conhecido como Golang, é uma linguagem de programação criada pela Google.</a:t>
            </a:r>
            <a:endParaRPr lang="pt-BR" altLang="en-US" sz="2800"/>
          </a:p>
          <a:p>
            <a:r>
              <a:rPr lang="pt-BR" altLang="en-US" sz="2800"/>
              <a:t>Lançada </a:t>
            </a:r>
            <a:r>
              <a:rPr lang="en-US" altLang="pt-BR" sz="2800"/>
              <a:t>como projeto open source</a:t>
            </a:r>
            <a:r>
              <a:rPr lang="pt-BR" altLang="en-US" sz="2800"/>
              <a:t> em 2009.</a:t>
            </a:r>
            <a:endParaRPr lang="pt-BR" altLang="en-US" sz="2800"/>
          </a:p>
          <a:p>
            <a:r>
              <a:rPr lang="pt-BR" altLang="en-US" sz="2800"/>
              <a:t>Projetada para melhorar a produtividade dos desenvolvedores.</a:t>
            </a:r>
            <a:endParaRPr lang="pt-BR" altLang="en-US" sz="2800"/>
          </a:p>
          <a:p>
            <a:r>
              <a:rPr lang="pt-BR" altLang="en-US" sz="2800"/>
              <a:t>Características como linguagem compilada, garbage-collector, estaticamente tipada, </a:t>
            </a:r>
            <a:r>
              <a:rPr lang="en-US" altLang="pt-BR" sz="2800"/>
              <a:t>e alta capacidade </a:t>
            </a:r>
            <a:r>
              <a:rPr lang="pt-BR" altLang="en-US" sz="2800"/>
              <a:t>lidar com concorrência</a:t>
            </a:r>
            <a:endParaRPr lang="pt-BR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Objetivos da Criação do Go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Reduzir a complexidade do desenvolvimento de software.</a:t>
            </a:r>
            <a:endParaRPr lang="pt-BR" altLang="en-US"/>
          </a:p>
          <a:p>
            <a:r>
              <a:rPr lang="pt-BR" altLang="en-US"/>
              <a:t>Fornecer eficiência e velocidade de execução.</a:t>
            </a:r>
            <a:endParaRPr lang="pt-BR" altLang="en-US"/>
          </a:p>
          <a:p>
            <a:r>
              <a:rPr lang="pt-BR" altLang="en-US"/>
              <a:t>Facilitar o desenvolvimento de programas concorrentes.</a:t>
            </a:r>
            <a:endParaRPr lang="pt-BR" altLang="en-US"/>
          </a:p>
          <a:p>
            <a:r>
              <a:rPr lang="pt-BR" altLang="en-US"/>
              <a:t>Manter a simplicidade na sintaxe e no uso.</a:t>
            </a:r>
            <a:endParaRPr lang="pt-B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pt-BR" altLang="en-US"/>
              <a:t>Fundadores de Go</a:t>
            </a:r>
            <a:r>
              <a:rPr lang="en-US" altLang="pt-BR"/>
              <a:t>:</a:t>
            </a:r>
            <a:endParaRPr lang="pt-BR" altLang="en-US"/>
          </a:p>
        </p:txBody>
      </p:sp>
      <p:pic>
        <p:nvPicPr>
          <p:cNvPr id="4" name="Espaço Reservado para Imagem 3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3462020" y="995045"/>
            <a:ext cx="5267325" cy="2924175"/>
          </a:xfrm>
          <a:prstGeom prst="rect">
            <a:avLst/>
          </a:prstGeom>
        </p:spPr>
      </p:pic>
      <p:sp>
        <p:nvSpPr>
          <p:cNvPr id="6" name="Espaço Reservado para Texto 5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lang="pt-BR" altLang="en-US" sz="2400">
                <a:sym typeface="+mn-ea"/>
              </a:rPr>
              <a:t>Robert Griesemer, Rob Pike e Ken Thompson</a:t>
            </a:r>
            <a:endParaRPr lang="pt-BR" altLang="en-US" sz="2400"/>
          </a:p>
          <a:p>
            <a:endParaRPr lang="pt-BR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Quem usa Go?</a:t>
            </a:r>
            <a:endParaRPr lang="en-US" altLang="pt-BR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7895" y="1957070"/>
            <a:ext cx="5295900" cy="3800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Onde executar?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pt-BR" sz="2800"/>
              <a:t>Executar online:</a:t>
            </a:r>
            <a:endParaRPr lang="pt-BR" altLang="en-US" sz="2800"/>
          </a:p>
          <a:p>
            <a:pPr lvl="1"/>
            <a:r>
              <a:rPr lang="pt-BR" altLang="en-US" sz="2520"/>
              <a:t>https://go.dev/tour/basics/1</a:t>
            </a:r>
            <a:endParaRPr lang="pt-BR" altLang="en-US" sz="2520"/>
          </a:p>
          <a:p>
            <a:endParaRPr lang="pt-BR" altLang="en-US" sz="2800"/>
          </a:p>
          <a:p>
            <a:r>
              <a:rPr lang="en-US" altLang="pt-BR" sz="2800"/>
              <a:t>Instalador:</a:t>
            </a:r>
            <a:endParaRPr lang="en-US" altLang="pt-BR" sz="2800"/>
          </a:p>
          <a:p>
            <a:pPr lvl="1"/>
            <a:r>
              <a:rPr lang="en-US" altLang="pt-BR" sz="2520"/>
              <a:t>https://go.dev/doc/install</a:t>
            </a:r>
            <a:endParaRPr lang="en-US" altLang="pt-BR" sz="2520"/>
          </a:p>
          <a:p>
            <a:endParaRPr lang="en-US" altLang="pt-BR" sz="2800"/>
          </a:p>
          <a:p>
            <a:pPr lvl="1"/>
            <a:r>
              <a:rPr lang="en-US" altLang="pt-BR" sz="2520"/>
              <a:t>Todo código tem extensão .go</a:t>
            </a:r>
            <a:endParaRPr lang="en-US" altLang="pt-BR" sz="2520"/>
          </a:p>
          <a:p>
            <a:pPr lvl="1"/>
            <a:r>
              <a:rPr lang="en-US" altLang="pt-BR" sz="2520"/>
              <a:t>Para executar digite “go run seuArquivo.go” que irá compilar e executar</a:t>
            </a:r>
            <a:endParaRPr lang="en-US" altLang="pt-BR" sz="25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Olá Mundo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    fmt.Println("Olá, Mundo!")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sz="2800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sz="2800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Variáveis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pt-BR" altLang="en-US"/>
              <a:t>A instrução var é usada para declarar uma ou mais variáveis</a:t>
            </a:r>
            <a:r>
              <a:rPr lang="en-US" altLang="pt-BR"/>
              <a:t>.</a:t>
            </a:r>
            <a:endParaRPr lang="pt-BR" altLang="en-US"/>
          </a:p>
          <a:p>
            <a:r>
              <a:rPr lang="pt-BR" altLang="en-US"/>
              <a:t>O tipo deve ser informado após o nome</a:t>
            </a:r>
            <a:r>
              <a:rPr lang="en-US" altLang="pt-BR"/>
              <a:t>.</a:t>
            </a:r>
            <a:endParaRPr lang="en-US" altLang="pt-BR"/>
          </a:p>
          <a:p>
            <a:endParaRPr lang="en-US" altLang="pt-BR"/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altLang="pt-BR" b="1">
                <a:latin typeface="Courier New" panose="02070309020205020404" charset="0"/>
                <a:cs typeface="Courier New" panose="02070309020205020404" charset="0"/>
              </a:rPr>
              <a:t>var variavel bool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fun</a:t>
            </a:r>
            <a:r>
              <a:rPr lang="en-US" altLang="pt-BR" b="1">
                <a:latin typeface="Courier New" panose="02070309020205020404" charset="0"/>
                <a:cs typeface="Courier New" panose="02070309020205020404" charset="0"/>
                <a:sym typeface="+mn-ea"/>
              </a:rPr>
              <a:t>c main() {</a:t>
            </a:r>
            <a:endParaRPr lang="en-US" altLang="pt-BR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v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ar i int</a:t>
            </a:r>
            <a:endParaRPr lang="en-US" altLang="pt-BR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en-US" altLang="pt-BR" b="1">
                <a:latin typeface="Courier New" panose="02070309020205020404" charset="0"/>
                <a:cs typeface="Courier New" panose="02070309020205020404" charset="0"/>
                <a:sym typeface="+mn-ea"/>
              </a:rPr>
              <a:t>    fmt.Println("Variaveis ", variavel, i)</a:t>
            </a:r>
            <a:endParaRPr lang="en-US" altLang="pt-BR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en-US" altLang="pt-BR" b="1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en-US" altLang="pt-BR" b="1">
              <a:latin typeface="Courier New" panose="02070309020205020404" charset="0"/>
              <a:cs typeface="Courier New" panose="02070309020205020404" charset="0"/>
            </a:endParaRPr>
          </a:p>
          <a:p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Variáveis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O operador := pode ser usado para declaração de variáveis de forma curta. Ao ser utilizado o tipo da variável é definido automaticamente de acordo com seu valor.</a:t>
            </a:r>
            <a:endParaRPr lang="en-US" altLang="pt-BR"/>
          </a:p>
          <a:p>
            <a:endParaRPr lang="en-US" altLang="pt-BR"/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   i := 3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   fmt.Println("Variave</a:t>
            </a:r>
            <a:r>
              <a:rPr lang="en-US" altLang="pt-BR" b="1">
                <a:latin typeface="Courier New" panose="02070309020205020404" charset="0"/>
                <a:cs typeface="Courier New" panose="02070309020205020404" charset="0"/>
                <a:sym typeface="+mn-ea"/>
              </a:rPr>
              <a:t>l</a:t>
            </a:r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 ",  i)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endParaRPr lang="en-US" alt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Principais tipos de dados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// Tipos Inteiros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var idade int = 30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var numero int64 = 10000000000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// Tipos Ponto Flutuante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var altura float32 = 1.75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var distancia float64 = 256.123456789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// Tipo Booleano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var estaChovendo bool = true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// Tipo String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var nome string = "Golang"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fmt.Println(idade, numero, altura, distancia, estaChovendo, nome)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Constantes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/>
              <a:t>A sintaxe é muito parecida com as variáveis, mas não se usa o operador :=</a:t>
            </a:r>
            <a:endParaRPr lang="en-US"/>
          </a:p>
          <a:p>
            <a:endParaRPr lang="en-US"/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package main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import "fmt"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const Pi = 3.14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func main() {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 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const Palavra = “olá”</a:t>
            </a: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 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 fmt.Println(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Palavra, Pi</a:t>
            </a: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)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pt-BR" altLang="en-US" sz="2000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Arrays</a:t>
            </a:r>
            <a:endParaRPr lang="en-US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package main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import "fmt"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func main() {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var x [10]int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x[0] = 1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x[1] = 38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fmt.Println(x[1])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fmt.Println(x)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Funções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package main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import "fmt"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func add(x int, y int) int {</a:t>
            </a:r>
            <a:endParaRPr lang="en-US" altLang="pt-BR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   return x + y</a:t>
            </a:r>
            <a:endParaRPr lang="en-US" altLang="pt-BR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func main() {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 fmt.Println(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add(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12,13)</a:t>
            </a: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)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pt-B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Múltiplos retornos em funções</a:t>
            </a:r>
            <a:endParaRPr lang="en-US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package main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import "fmt"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func 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</a:rPr>
              <a:t>trocar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(x, y 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string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) 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</a:rPr>
              <a:t>(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string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</a:rPr>
              <a:t>, string)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 {</a:t>
            </a:r>
            <a:endParaRPr lang="en-US" altLang="pt-BR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   return 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</a:rPr>
              <a:t>y, x</a:t>
            </a:r>
            <a:endParaRPr lang="en-US" altLang="pt-BR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func main() {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</a:t>
            </a:r>
            <a:r>
              <a:rPr lang="en-US" altLang="pt-BR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a, b := trocar(“Olá”, “mundo”)</a:t>
            </a: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   fmt.Println(</a:t>
            </a:r>
            <a:r>
              <a:rPr lang="en-US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a, b</a:t>
            </a: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)</a:t>
            </a:r>
            <a:endParaRPr lang="pt-BR" altLang="en-US" sz="2000" b="1">
              <a:latin typeface="Courier New" panose="02070309020205020404" charset="0"/>
              <a:cs typeface="Courier New" panose="02070309020205020404" charset="0"/>
            </a:endParaRPr>
          </a:p>
          <a:p>
            <a:pPr marL="201295" lvl="1" indent="0">
              <a:buNone/>
            </a:pPr>
            <a:r>
              <a:rPr lang="pt-BR" altLang="en-US" sz="2000" b="1">
                <a:latin typeface="Courier New" panose="02070309020205020404" charset="0"/>
                <a:cs typeface="Courier New" panose="02070309020205020404" charset="0"/>
                <a:sym typeface="+mn-ea"/>
              </a:rPr>
              <a:t>}</a:t>
            </a:r>
            <a:endParaRPr lang="pt-B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Estrutura condicional - IF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06340"/>
          </a:xfrm>
        </p:spPr>
        <p:txBody>
          <a:bodyPr>
            <a:normAutofit/>
          </a:bodyPr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age := 20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if age &lt; 13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fmt.Println("Você é uma criança.")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 else if age &lt; 18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fmt.Println("Você é um adolescente.")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 else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fmt.Println("Você é um adulto.")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Estrutura condicional </a:t>
            </a:r>
            <a:r>
              <a:rPr lang="en-US" altLang="en-US"/>
              <a:t>- Switch</a:t>
            </a:r>
            <a:endParaRPr lang="en-US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06340"/>
          </a:xfrm>
          <a:solidFill>
            <a:schemeClr val="bg1"/>
          </a:solidFill>
        </p:spPr>
        <p:txBody>
          <a:bodyPr>
            <a:normAutofit lnSpcReduction="10000"/>
          </a:bodyPr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day := "segunda"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switch day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case "segunda":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fmt.Println("Hoje é segunda-feira.")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case "terça":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fmt.Println("Hoje é terça-feira.")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default: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fmt.Println("Hoje não é segunda nem terça-feira.")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Estrutura </a:t>
            </a:r>
            <a:r>
              <a:rPr lang="en-US" altLang="en-US"/>
              <a:t>de repetição - FOR</a:t>
            </a:r>
            <a:endParaRPr lang="en-US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06340"/>
          </a:xfrm>
          <a:solidFill>
            <a:schemeClr val="bg1"/>
          </a:solidFill>
        </p:spPr>
        <p:txBody>
          <a:bodyPr>
            <a:normAutofit lnSpcReduction="10000"/>
          </a:bodyPr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for i := 0; i &lt; 5; i++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fmt.Println(i)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Estrutura </a:t>
            </a:r>
            <a:r>
              <a:rPr lang="en-US" altLang="en-US"/>
              <a:t>de repetição - FOR Array</a:t>
            </a:r>
            <a:endParaRPr lang="en-US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06340"/>
          </a:xfrm>
          <a:solidFill>
            <a:schemeClr val="bg1"/>
          </a:solidFill>
        </p:spPr>
        <p:txBody>
          <a:bodyPr>
            <a:normAutofit lnSpcReduction="10000"/>
          </a:bodyPr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nums := []int{2, 4, 6, 8}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for i, num := range nums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fmt.Printf("Índice: %d, Valor: %d\n", i, num)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Estrutura </a:t>
            </a:r>
            <a:r>
              <a:rPr lang="en-US" altLang="en-US"/>
              <a:t>de repetição - While (não existe)</a:t>
            </a:r>
            <a:endParaRPr lang="en-US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06340"/>
          </a:xfrm>
          <a:solidFill>
            <a:schemeClr val="bg1"/>
          </a:solidFill>
        </p:spPr>
        <p:txBody>
          <a:bodyPr>
            <a:normAutofit lnSpcReduction="10000"/>
          </a:bodyPr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package main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import "fmt"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func main()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i := 0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for i &lt; 5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fmt.Println(i)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    i++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  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>
              <a:lnSpc>
                <a:spcPct val="60000"/>
              </a:lnSpc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Exercícios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635" indent="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Century Schoolbook"/>
              <a:buNone/>
            </a:pP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1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Declare variáveis para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o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preço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quantidade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de um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produto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Numa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loja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é dado 10% de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desconto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quando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o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cliente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compra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5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unidades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ou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mais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do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mesmo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produto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Mostre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qual é o valor </a:t>
            </a:r>
            <a:r>
              <a:rPr lang="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que 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o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cliente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pagará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por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esta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compra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endParaRPr lang="pt-BR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Century Schoolbook"/>
              <a:buNone/>
            </a:pP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2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Declare variáveis para 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sua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altura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 peso.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calcule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o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seu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IMC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através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da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fórmula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(IMC = peso/(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altura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*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altura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)).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Mostre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uma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mensagem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de que a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pessoa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está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com peso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correto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quando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o IMC for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menor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que 25, e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informe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que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está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de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sobrepeso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caso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contrário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endParaRPr lang="pt-BR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5" indent="0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Century Schoolbook"/>
              <a:buNone/>
            </a:pP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3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considere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que um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carro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faz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9km/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litro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de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consumo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com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alcool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Já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na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gasolina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ele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faz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11km/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litro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Faça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um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algoritmo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que d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eclare variáveis para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a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distância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que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deseja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viajar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, o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preço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do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alcool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 o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preço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do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litro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da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gasolina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Calcule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mostre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o valor que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será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gasto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caso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abasteça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com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alcool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e o valor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gasto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com </a:t>
            </a:r>
            <a:r>
              <a:rPr lang="en-US" altLang="pt-BR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gasolina</a:t>
            </a:r>
            <a:r>
              <a:rPr lang="en-US" altLang="pt-BR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 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Mostre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ainda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se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compensa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abastecer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com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alcool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ou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com </a:t>
            </a:r>
            <a:r>
              <a:rPr lang="en-US" altLang="en-US" spc="7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gasolina</a:t>
            </a:r>
            <a:r>
              <a:rPr lang="en-US" altLang="en-US" spc="7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.</a:t>
            </a:r>
            <a:endParaRPr lang="pt-B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/>
              <a:t>Exercícios</a:t>
            </a:r>
            <a:endParaRPr lang="en-US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702224"/>
            <a:ext cx="10058400" cy="4023360"/>
          </a:xfrm>
        </p:spPr>
        <p:txBody>
          <a:bodyPr>
            <a:noAutofit/>
          </a:bodyPr>
          <a:p>
            <a:r>
              <a:rPr lang="en-US" altLang="pt-BR" sz="2400"/>
              <a:t>4</a:t>
            </a:r>
            <a:r>
              <a:rPr lang="pt-BR" altLang="en-US" sz="2400"/>
              <a:t> </a:t>
            </a:r>
            <a:r>
              <a:rPr lang="en-US" altLang="pt-BR" sz="2400"/>
              <a:t>- </a:t>
            </a:r>
            <a:r>
              <a:rPr lang="pt-BR" altLang="en-US" sz="2400"/>
              <a:t>Faça um algoritmo que </a:t>
            </a:r>
            <a:r>
              <a:rPr lang="en-US" altLang="pt-BR" sz="2400"/>
              <a:t>declare uma variável com</a:t>
            </a:r>
            <a:r>
              <a:rPr lang="pt-BR" altLang="en-US" sz="2400"/>
              <a:t> um número qualquer. Mostre a tabuada desse número.</a:t>
            </a:r>
            <a:endParaRPr lang="pt-BR" altLang="en-US" sz="2400"/>
          </a:p>
          <a:p>
            <a:r>
              <a:rPr lang="en-US" altLang="pt-BR" sz="2400"/>
              <a:t>5</a:t>
            </a:r>
            <a:r>
              <a:rPr lang="pt-BR" altLang="en-US" sz="2400"/>
              <a:t> </a:t>
            </a:r>
            <a:r>
              <a:rPr lang="en-US" altLang="pt-BR" sz="2400"/>
              <a:t>- </a:t>
            </a:r>
            <a:r>
              <a:rPr lang="pt-BR" altLang="en-US" sz="2400"/>
              <a:t>Elabore um programa que calcule o fatorial de um número </a:t>
            </a:r>
            <a:r>
              <a:rPr lang="en-US" altLang="pt-BR" sz="2400"/>
              <a:t>qualquer</a:t>
            </a:r>
            <a:r>
              <a:rPr lang="pt-BR" altLang="en-US" sz="2400"/>
              <a:t> (Numero!). Exemplo: 5! = 5*4*3*2*1 = 120</a:t>
            </a:r>
            <a:endParaRPr lang="pt-BR" altLang="en-US" sz="2400"/>
          </a:p>
          <a:p>
            <a:r>
              <a:rPr lang="en-US" altLang="pt-BR" sz="2400"/>
              <a:t>6 -</a:t>
            </a:r>
            <a:r>
              <a:rPr lang="pt-BR" altLang="en-US" sz="2400"/>
              <a:t> A série de Fibonacci é formada pela seguinte seqüência: 0,1,1,2,3,5,8,13,21,34,55... etc. Escreva um algoritmo que gere a série de Fibonacci até o vigésimo termo utilizando uma estrutura de repetição.</a:t>
            </a:r>
            <a:endParaRPr lang="pt-BR" altLang="en-US" sz="2400"/>
          </a:p>
          <a:p>
            <a:r>
              <a:rPr lang="en-US" altLang="pt-BR" sz="2400"/>
              <a:t>7</a:t>
            </a:r>
            <a:r>
              <a:rPr lang="pt-BR" altLang="en-US" sz="2400"/>
              <a:t> - Bill tem 1.85 bilhões (1850 milhões) na sua conta e Jeff tem 1.65 bilhões(1650 milhões). Porém Bill aumenta o seu saldo em 20 milhões por ano, enquanto Jeff aumenta 28 milhões ao ano. Calcule quantos anos demorará para Jeff ficar mais rico que Bill.</a:t>
            </a:r>
            <a:endParaRPr lang="pt-B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4963</Words>
  <Application>WPS Presentation</Application>
  <PresentationFormat>Widescreen</PresentationFormat>
  <Paragraphs>238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Trebuchet MS</vt:lpstr>
      <vt:lpstr>Courier New</vt:lpstr>
      <vt:lpstr>Century Schoolbook</vt:lpstr>
      <vt:lpstr>Gubbi</vt:lpstr>
      <vt:lpstr>Calibri Light</vt:lpstr>
      <vt:lpstr>微软雅黑</vt:lpstr>
      <vt:lpstr>Arial Unicode MS</vt:lpstr>
      <vt:lpstr>Droid Sans Fallback</vt:lpstr>
      <vt:lpstr>MT Extra</vt:lpstr>
      <vt:lpstr>Times New Roman</vt:lpstr>
      <vt:lpstr>Retrospectiva</vt:lpstr>
      <vt:lpstr>Golang</vt:lpstr>
      <vt:lpstr>Introdução à Linguagem Go (Golang)</vt:lpstr>
      <vt:lpstr>Objetivos da Criação do Go</vt:lpstr>
      <vt:lpstr>Fundadores de Go:</vt:lpstr>
      <vt:lpstr>Quem usa Go?</vt:lpstr>
      <vt:lpstr>Onde executar?</vt:lpstr>
      <vt:lpstr>Olá Mundo</vt:lpstr>
      <vt:lpstr>Variáveis</vt:lpstr>
      <vt:lpstr>Variáveis</vt:lpstr>
      <vt:lpstr>Principais tipos de dados</vt:lpstr>
      <vt:lpstr>Constantes</vt:lpstr>
      <vt:lpstr>Arrays</vt:lpstr>
      <vt:lpstr>Funções</vt:lpstr>
      <vt:lpstr>Múltiplos retornos em funções</vt:lpstr>
      <vt:lpstr>Estrutura condicional - IF</vt:lpstr>
      <vt:lpstr>Estrutura condicional - Switch</vt:lpstr>
      <vt:lpstr>Estrutura de repetição - FOR</vt:lpstr>
      <vt:lpstr>Estrutura de repetição - FOR Array</vt:lpstr>
      <vt:lpstr>Estrutura de repetição - While (não existe)</vt:lpstr>
      <vt:lpstr>Exercícios</vt:lpstr>
      <vt:lpstr>Exercícios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ORM</dc:title>
  <dc:creator>Alysson</dc:creator>
  <cp:lastModifiedBy>ely</cp:lastModifiedBy>
  <cp:revision>130</cp:revision>
  <dcterms:created xsi:type="dcterms:W3CDTF">2025-05-08T00:54:36Z</dcterms:created>
  <dcterms:modified xsi:type="dcterms:W3CDTF">2025-05-08T00:54:36Z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ICV">
    <vt:lpwstr>F250239C19AB427282CF4548D6C34A27</vt:lpwstr>
  </property>
</Properties>
</file>