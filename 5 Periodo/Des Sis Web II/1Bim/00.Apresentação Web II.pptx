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1" r:id="rId4"/>
    <p:sldId id="301" r:id="rId5"/>
    <p:sldId id="302" r:id="rId6"/>
    <p:sldId id="303" r:id="rId7"/>
    <p:sldId id="304" r:id="rId8"/>
    <p:sldId id="30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94660"/>
  </p:normalViewPr>
  <p:slideViewPr>
    <p:cSldViewPr>
      <p:cViewPr varScale="1">
        <p:scale>
          <a:sx n="81" d="100"/>
          <a:sy n="81" d="100"/>
        </p:scale>
        <p:origin x="461" y="62"/>
      </p:cViewPr>
      <p:guideLst>
        <p:guide orient="horz" pos="2160"/>
        <p:guide pos="3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altLang="pt-BR" dirty="0"/>
              <a:t>Desenvolvimento de Sistemas Web II</a:t>
            </a:r>
            <a:endParaRPr lang="pt-PT" alt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Ely Prado</a:t>
            </a:r>
            <a:endParaRPr lang="pt-BR" dirty="0"/>
          </a:p>
          <a:p>
            <a:r>
              <a:rPr lang="pt-BR"/>
              <a:t>Libertas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7670" y="286385"/>
            <a:ext cx="10748010" cy="1450975"/>
          </a:xfrm>
        </p:spPr>
        <p:txBody>
          <a:bodyPr/>
          <a:p>
            <a:r>
              <a:rPr lang="pt-PT" altLang="pt-BR" dirty="0">
                <a:sym typeface="+mn-ea"/>
              </a:rPr>
              <a:t>Desenvolvimento de Sistemas Web II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3200" b="1"/>
              <a:t>Ementa</a:t>
            </a:r>
            <a:endParaRPr lang="en-US" altLang="pt-BR" sz="3200" b="1"/>
          </a:p>
          <a:p>
            <a:r>
              <a:rPr lang="en-US" altLang="pt-BR" sz="2800"/>
              <a:t>Linguagens de servidor para internet; PHP, variáveis e estruturas; Integração entre formulários HTML e PHP; Sessões; Persistência de dados em arquivos; Gerenciadores de Conteúdo.</a:t>
            </a:r>
            <a:endParaRPr lang="en-US" altLang="pt-BR"/>
          </a:p>
          <a:p>
            <a:endParaRPr lang="en-US" altLang="pt-BR"/>
          </a:p>
          <a:p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7670" y="286385"/>
            <a:ext cx="10748010" cy="1450975"/>
          </a:xfrm>
        </p:spPr>
        <p:txBody>
          <a:bodyPr/>
          <a:p>
            <a:r>
              <a:rPr lang="pt-PT" altLang="pt-BR" dirty="0">
                <a:sym typeface="+mn-ea"/>
              </a:rPr>
              <a:t>Desenvolvimento de Sistemas Web II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pt-BR" sz="3200" b="1"/>
              <a:t>Bibliografia Básic</a:t>
            </a:r>
            <a:r>
              <a:rPr lang="en-US" altLang="en-US" sz="3200" b="1"/>
              <a:t>a</a:t>
            </a:r>
            <a:endParaRPr lang="en-US" altLang="pt-BR" sz="3200" b="1"/>
          </a:p>
          <a:p>
            <a:r>
              <a:rPr lang="en-US" altLang="pt-BR" sz="2800"/>
              <a:t>• MORRISON, Michael. BEIGHLEY, Lynn. Use a cabeça: PHP &amp; MySQL – O Guia Amigo do seu cérebro. Rio de Janeiro: AltaBooks, 2011</a:t>
            </a:r>
            <a:endParaRPr lang="en-US" altLang="pt-BR" sz="2800"/>
          </a:p>
          <a:p>
            <a:r>
              <a:rPr lang="en-US" altLang="pt-BR" sz="2800"/>
              <a:t>• PETER, Lubbers; BRIAN, Albers. Programação Profissional Em Html 5. Rio de Janeiro: Alta Books, 2013</a:t>
            </a:r>
            <a:endParaRPr lang="en-US" altLang="pt-BR" sz="2800"/>
          </a:p>
          <a:p>
            <a:r>
              <a:rPr lang="en-US" altLang="pt-BR" sz="2800"/>
              <a:t>• SILVA, Mauricio Samy. Html 5: a Linguagem de Marcação que Revolucionou a Web. São Paulo: Novatec, 2011.</a:t>
            </a:r>
            <a:endParaRPr lang="en-US" altLang="pt-BR" sz="2800"/>
          </a:p>
          <a:p>
            <a:endParaRPr lang="en-US" altLang="pt-BR"/>
          </a:p>
          <a:p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7670" y="286385"/>
            <a:ext cx="10748010" cy="1450975"/>
          </a:xfrm>
        </p:spPr>
        <p:txBody>
          <a:bodyPr/>
          <a:p>
            <a:r>
              <a:rPr lang="pt-PT" altLang="pt-BR" dirty="0">
                <a:sym typeface="+mn-ea"/>
              </a:rPr>
              <a:t>Desenvolvimento de Sistemas Web II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pt-BR" sz="3200" b="1"/>
              <a:t>Bibliografia Complementar</a:t>
            </a:r>
            <a:endParaRPr lang="en-US" altLang="pt-BR" sz="3200" b="1"/>
          </a:p>
          <a:p>
            <a:r>
              <a:rPr lang="en-US" altLang="pt-BR" sz="2800"/>
              <a:t>• METLAPALLI, Prabhakar. Páginas JavaServer (JSP). LTC, 2010.</a:t>
            </a:r>
            <a:endParaRPr lang="en-US" altLang="pt-BR" sz="2800"/>
          </a:p>
          <a:p>
            <a:r>
              <a:rPr lang="en-US" altLang="pt-BR" sz="2800"/>
              <a:t>• NAKAMURA, R. R. E-Commerce na Internet: Facil de Entender. 8ed. Érica, 2003.</a:t>
            </a:r>
            <a:endParaRPr lang="en-US" altLang="pt-BR" sz="2800"/>
          </a:p>
          <a:p>
            <a:r>
              <a:rPr lang="en-US" altLang="pt-BR" sz="2800"/>
              <a:t>• RUSSEL, Matthew A. Mineração de Dados da Web Social. São Paulo: Novatec, 2011.</a:t>
            </a:r>
            <a:endParaRPr lang="en-US" altLang="pt-BR" sz="2800"/>
          </a:p>
          <a:p>
            <a:r>
              <a:rPr lang="en-US" altLang="pt-BR" sz="2800"/>
              <a:t>• SOARES, Walace. Crie um Sistema Web com PHP 5 e AJAX - Controle de Estoque. São Paulo: Érica, 2009.</a:t>
            </a:r>
            <a:endParaRPr lang="en-US" altLang="pt-BR" sz="2800"/>
          </a:p>
          <a:p>
            <a:r>
              <a:rPr lang="en-US" altLang="pt-BR" sz="2800"/>
              <a:t>• TERUEL, Evandro Carlos. Html 5 - Guia Prático. São Paulo: Erica, 2011.</a:t>
            </a:r>
            <a:endParaRPr lang="en-US" altLang="pt-BR" sz="2800"/>
          </a:p>
          <a:p>
            <a:endParaRPr lang="en-US" altLang="pt-BR"/>
          </a:p>
          <a:p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Plano de Aulas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pt-BR" altLang="en-US"/>
              <a:t>APIs RESTful</a:t>
            </a:r>
            <a:endParaRPr lang="pt-BR" altLang="en-US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/>
              <a:t>Implementação de APIs RESTful com NodeJS</a:t>
            </a:r>
            <a:endParaRPr lang="pt-BR" altLang="en-US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/>
              <a:t>Implementação de APIs RESTful com </a:t>
            </a:r>
            <a:r>
              <a:rPr lang="" altLang="pt-BR"/>
              <a:t>Java</a:t>
            </a:r>
            <a:endParaRPr lang="pt-BR" altLang="en-US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/>
              <a:t>Implementação de APIs RESTful com </a:t>
            </a:r>
            <a:r>
              <a:rPr lang="en-US" altLang="pt-BR"/>
              <a:t>GoLang</a:t>
            </a:r>
            <a:endParaRPr lang="pt-BR" altLang="en-US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/>
              <a:t>Autenticação baseada em token (JWT - JSON Web Tokens).</a:t>
            </a:r>
            <a:endParaRPr lang="pt-BR" altLang="en-US"/>
          </a:p>
          <a:p>
            <a:pPr>
              <a:buFont typeface="Arial" panose="020B0604020202020204" pitchFamily="34" charset="0"/>
              <a:buChar char="•"/>
            </a:pPr>
            <a:r>
              <a:rPr lang="pt-BR" altLang="en-US"/>
              <a:t>Estratégias de proteção contra ataques comuns (injeção SQL, XSS, CSRF)</a:t>
            </a:r>
            <a:endParaRPr lang="pt-B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Plano de Aulas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pt-BR"/>
              <a:t>Avaliação</a:t>
            </a:r>
            <a:endParaRPr lang="en-US" altLang="pt-BR"/>
          </a:p>
          <a:p>
            <a:pPr>
              <a:buFont typeface="Arial" panose="020B0604020202020204" pitchFamily="34" charset="0"/>
              <a:buChar char="•"/>
            </a:pPr>
            <a:r>
              <a:rPr lang="en-US" altLang="pt-BR"/>
              <a:t>60 pontos - avaliação prática</a:t>
            </a:r>
            <a:endParaRPr lang="en-US" altLang="pt-BR"/>
          </a:p>
          <a:p>
            <a:pPr>
              <a:buFont typeface="Arial" panose="020B0604020202020204" pitchFamily="34" charset="0"/>
              <a:buChar char="•"/>
            </a:pPr>
            <a:r>
              <a:rPr lang="en-US" altLang="pt-BR"/>
              <a:t>40 pontos - avaliação teórica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Exercício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3600"/>
              <a:t>Construa um arquivo JSON contendo os seus dados de nome, telefone, e-mail. Neste JSON você deve ter ainda um objeto endereço que contenha logradouro, número, bairro, cidade, uf e cep. Você deve ter também uma lista (array) que contenha seus filmes preferidos.</a:t>
            </a:r>
            <a:endParaRPr lang="en-US" altLang="pt-BR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1727</Words>
  <Application>WPS Presentation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Trebuchet MS</vt:lpstr>
      <vt:lpstr>Calibri Light</vt:lpstr>
      <vt:lpstr>微软雅黑</vt:lpstr>
      <vt:lpstr>Arial Unicode MS</vt:lpstr>
      <vt:lpstr>Retrospectiva</vt:lpstr>
      <vt:lpstr>Desenvolvimento de Sistemas Web II</vt:lpstr>
      <vt:lpstr>Desenvolvimento de Sistemas Web II</vt:lpstr>
      <vt:lpstr>Desenvolvimento de Sistemas Web II</vt:lpstr>
      <vt:lpstr>Desenvolvimento de Sistemas Web II</vt:lpstr>
      <vt:lpstr>Plano de Aulas</vt:lpstr>
      <vt:lpstr>Plano de Aulas</vt:lpstr>
      <vt:lpstr>Exercício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Mapeamento ORM</dc:title>
  <dc:creator>Alysson</dc:creator>
  <cp:lastModifiedBy>ely</cp:lastModifiedBy>
  <cp:revision>110</cp:revision>
  <dcterms:created xsi:type="dcterms:W3CDTF">2026-02-11T00:48:31Z</dcterms:created>
  <dcterms:modified xsi:type="dcterms:W3CDTF">2026-02-11T00:48:31Z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1046-11.1.0.8865</vt:lpwstr>
  </property>
  <property fmtid="{D5CDD505-2E9C-101B-9397-08002B2CF9AE}" pid="3" name="ICV">
    <vt:lpwstr>D4D55510E0D34C8EA1182DC2A5A859E0</vt:lpwstr>
  </property>
</Properties>
</file>